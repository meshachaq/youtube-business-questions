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688-2776-4AC9-B30F-B7AF9BCA0F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9C0A4103-4DCD-486D-BDFD-33ECC7AFC8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1CF4BB1D-3732-4113-A699-05ECBABFDFB9}"/>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5E56D149-0154-41E8-B545-4F0DB788EC18}"/>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5E9215A-814B-4A6B-B4CA-E92D43F8DC24}"/>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2095868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9A6D-5A7C-464F-B583-48B24B098A9D}"/>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380BF20F-9130-4D9B-9DE2-A3973896A20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164502CD-A002-4001-8F54-BE5EB52EF8DC}"/>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319367E6-6E2D-44B4-9220-705C08C975B0}"/>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02640736-88F1-4FC2-900E-AD3214AB506B}"/>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401457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3B0D-95F7-4330-BB55-9DF09BCD35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4E072EB6-BEAA-43D4-BA40-853467B3B0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59EF150-7B58-4946-8BC5-1EA7ED3DB5CB}"/>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D3CE40DD-DCFB-45EA-B04B-2EFECDB244B9}"/>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009DE68-6E13-4AEB-9A1F-2CBC67C34C69}"/>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390636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AECE1-865F-4093-AEA6-F8490A17652E}"/>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5C3DD3A9-9CED-4025-8B4B-53021FDDF46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9A709148-7684-422D-9E7A-0BD956854E2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CAF8A46B-641B-4C4D-B0EA-AD5FAF5D1808}"/>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6" name="Footer Placeholder 5">
            <a:extLst>
              <a:ext uri="{FF2B5EF4-FFF2-40B4-BE49-F238E27FC236}">
                <a16:creationId xmlns:a16="http://schemas.microsoft.com/office/drawing/2014/main" id="{A197A1BA-9E4A-45E2-B61F-3CC01F0A6BC1}"/>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7AE53EAF-A746-4353-A964-675FFAED01C1}"/>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104710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0DEFF-A379-4A39-8087-219B5C962BD8}"/>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D62612CA-F98D-42ED-B407-AB7BF13C0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6CEC688-8F21-411F-A3AF-4043A3EC012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D304D58E-8CCC-4A6F-BB2F-BFB2B62116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D483369-6C7B-4FD4-91AB-1C5EE5CB665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791157D2-954C-46E9-9F09-EDB9A9B4563A}"/>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8" name="Footer Placeholder 7">
            <a:extLst>
              <a:ext uri="{FF2B5EF4-FFF2-40B4-BE49-F238E27FC236}">
                <a16:creationId xmlns:a16="http://schemas.microsoft.com/office/drawing/2014/main" id="{74908887-7122-4BF1-A390-57DDC5E39AD5}"/>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33AC7113-0C13-4DC2-BBB9-D1FE3FF74EFD}"/>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3833204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03DA5-ED16-473E-9E1E-CD431D63D3E7}"/>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00A1774C-5C04-472B-93F2-4374344D431C}"/>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4" name="Footer Placeholder 3">
            <a:extLst>
              <a:ext uri="{FF2B5EF4-FFF2-40B4-BE49-F238E27FC236}">
                <a16:creationId xmlns:a16="http://schemas.microsoft.com/office/drawing/2014/main" id="{BA05E4B2-8D9E-461B-901A-081FBF377ECE}"/>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1AB600F5-B0EB-4D2F-BD9F-1FFB9B364CA3}"/>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4143425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FF6168-A928-48F9-A9DF-69D8CB676B06}"/>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3" name="Footer Placeholder 2">
            <a:extLst>
              <a:ext uri="{FF2B5EF4-FFF2-40B4-BE49-F238E27FC236}">
                <a16:creationId xmlns:a16="http://schemas.microsoft.com/office/drawing/2014/main" id="{51760FDE-6689-41CD-BF3E-1C1E075D3ED5}"/>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4815CA4D-F6B1-439C-B5C6-DDC1E5972B12}"/>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2633942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1737-BF14-42F1-B7AE-8D953D997A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AE8CC71E-1D1A-46A8-ACA8-D9D72AD339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B2D345F4-0E5D-47E0-8257-F76448286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1C1FA1D-2E8F-4656-A0F2-69D030D3A58B}"/>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6" name="Footer Placeholder 5">
            <a:extLst>
              <a:ext uri="{FF2B5EF4-FFF2-40B4-BE49-F238E27FC236}">
                <a16:creationId xmlns:a16="http://schemas.microsoft.com/office/drawing/2014/main" id="{CFBA39EC-0EBE-446C-A727-F40FD89D9A6C}"/>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244CE2C6-9CD2-4C58-894C-05026C14F266}"/>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399629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FA71-D7BC-4F63-80AD-9165B0045E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0326BF0D-3E09-4E08-8C7A-86B0C44BD3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D6AF7CA3-0AD6-45E5-AF68-E89183EBF4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C34890E-12DD-4126-BE8F-3538AFAEA8BA}"/>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6" name="Footer Placeholder 5">
            <a:extLst>
              <a:ext uri="{FF2B5EF4-FFF2-40B4-BE49-F238E27FC236}">
                <a16:creationId xmlns:a16="http://schemas.microsoft.com/office/drawing/2014/main" id="{233AAE7B-6BE6-412F-B8E0-FE5D9B887D04}"/>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28477A1-ABBF-4C81-BB62-DD51B5F4C120}"/>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270949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4C12-924A-41C9-BEC7-94CDBBB03B5A}"/>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7EA3F9FB-DD4A-4E7E-94BC-5A0626803E7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CA9535C4-B625-46CB-8E2B-3157E003541E}"/>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93DA6C89-B6AC-4CAF-955C-0631F7F8FCA2}"/>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295AE9F-D93E-41A3-AE2C-096DBD0E9038}"/>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2274166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144F3-E57D-4CE1-9404-9B347381E4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7B259535-B15C-411F-B2FE-BA2392F14A0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85F7A255-2170-405B-9DB1-E8FF1D8E16E5}"/>
              </a:ext>
            </a:extLst>
          </p:cNvPr>
          <p:cNvSpPr>
            <a:spLocks noGrp="1"/>
          </p:cNvSpPr>
          <p:nvPr>
            <p:ph type="dt" sz="half" idx="10"/>
          </p:nvPr>
        </p:nvSpPr>
        <p:spPr/>
        <p:txBody>
          <a:body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405F8F7A-BB1A-449A-AC0A-C6E1F3AB50A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26C8C798-B5AC-4AAB-9F5B-3A846E80A9AD}"/>
              </a:ext>
            </a:extLst>
          </p:cNvPr>
          <p:cNvSpPr>
            <a:spLocks noGrp="1"/>
          </p:cNvSpPr>
          <p:nvPr>
            <p:ph type="sldNum" sz="quarter" idx="12"/>
          </p:nvPr>
        </p:nvSpPr>
        <p:spPr/>
        <p:txBody>
          <a:bodyPr/>
          <a:lstStyle/>
          <a:p>
            <a:fld id="{70711B03-5848-4CF1-9A46-C6CEA105A9E1}" type="slidenum">
              <a:rPr lang="en-GH" smtClean="0"/>
              <a:t>‹#›</a:t>
            </a:fld>
            <a:endParaRPr lang="en-GH"/>
          </a:p>
        </p:txBody>
      </p:sp>
    </p:spTree>
    <p:extLst>
      <p:ext uri="{BB962C8B-B14F-4D97-AF65-F5344CB8AC3E}">
        <p14:creationId xmlns:p14="http://schemas.microsoft.com/office/powerpoint/2010/main" val="526486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1AB1DE-D80B-4970-988F-7531E579C5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C566EBAC-BBEB-4139-94F9-D7BACFD7F9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565126C1-F4D9-46A5-8DA5-D81A0CAFD7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9BEC5B-1149-4C1C-84B5-4D61CD23EECE}" type="datetimeFigureOut">
              <a:rPr lang="en-GH" smtClean="0"/>
              <a:t>23/11/2025</a:t>
            </a:fld>
            <a:endParaRPr lang="en-GH"/>
          </a:p>
        </p:txBody>
      </p:sp>
      <p:sp>
        <p:nvSpPr>
          <p:cNvPr id="5" name="Footer Placeholder 4">
            <a:extLst>
              <a:ext uri="{FF2B5EF4-FFF2-40B4-BE49-F238E27FC236}">
                <a16:creationId xmlns:a16="http://schemas.microsoft.com/office/drawing/2014/main" id="{D3E01422-F1CD-4771-B2DB-E0CA20C284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E2A29729-DFD6-42CA-8B1F-7EEFA0BE9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11B03-5848-4CF1-9A46-C6CEA105A9E1}" type="slidenum">
              <a:rPr lang="en-GH" smtClean="0"/>
              <a:t>‹#›</a:t>
            </a:fld>
            <a:endParaRPr lang="en-GH"/>
          </a:p>
        </p:txBody>
      </p:sp>
    </p:spTree>
    <p:extLst>
      <p:ext uri="{BB962C8B-B14F-4D97-AF65-F5344CB8AC3E}">
        <p14:creationId xmlns:p14="http://schemas.microsoft.com/office/powerpoint/2010/main" val="2005631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8082-98FF-4C88-9BC8-DA793355A207}"/>
              </a:ext>
            </a:extLst>
          </p:cNvPr>
          <p:cNvSpPr>
            <a:spLocks noGrp="1"/>
          </p:cNvSpPr>
          <p:nvPr>
            <p:ph type="ctrTitle"/>
          </p:nvPr>
        </p:nvSpPr>
        <p:spPr>
          <a:xfrm>
            <a:off x="1524000" y="0"/>
            <a:ext cx="9144000" cy="1228165"/>
          </a:xfrm>
        </p:spPr>
        <p:txBody>
          <a:bodyPr>
            <a:normAutofit/>
          </a:bodyPr>
          <a:lstStyle/>
          <a:p>
            <a:r>
              <a:rPr lang="en-US" sz="4000" b="1" dirty="0">
                <a:latin typeface="Arial Black" panose="020B0A04020102020204" pitchFamily="34" charset="0"/>
              </a:rPr>
              <a:t>NIGERIAN MEDIUM SCALE MARKETING DATASET</a:t>
            </a:r>
            <a:endParaRPr lang="en-GH" sz="4000" b="1" dirty="0">
              <a:latin typeface="Arial Black" panose="020B0A04020102020204" pitchFamily="34" charset="0"/>
            </a:endParaRPr>
          </a:p>
        </p:txBody>
      </p:sp>
      <p:sp>
        <p:nvSpPr>
          <p:cNvPr id="3" name="Subtitle 2">
            <a:extLst>
              <a:ext uri="{FF2B5EF4-FFF2-40B4-BE49-F238E27FC236}">
                <a16:creationId xmlns:a16="http://schemas.microsoft.com/office/drawing/2014/main" id="{BB084E29-5590-4EAB-AC21-CE5BDFECA071}"/>
              </a:ext>
            </a:extLst>
          </p:cNvPr>
          <p:cNvSpPr>
            <a:spLocks noGrp="1"/>
          </p:cNvSpPr>
          <p:nvPr>
            <p:ph type="subTitle" idx="1"/>
          </p:nvPr>
        </p:nvSpPr>
        <p:spPr>
          <a:xfrm>
            <a:off x="0" y="1228164"/>
            <a:ext cx="12192000" cy="5629835"/>
          </a:xfrm>
        </p:spPr>
        <p:txBody>
          <a:bodyPr>
            <a:normAutofit lnSpcReduction="10000"/>
          </a:bodyPr>
          <a:lstStyle/>
          <a:p>
            <a:pPr algn="l"/>
            <a:r>
              <a:rPr lang="en-US" sz="1200" b="1" dirty="0">
                <a:latin typeface="Times New Roman" panose="02020603050405020304" pitchFamily="18" charset="0"/>
                <a:cs typeface="Times New Roman" panose="02020603050405020304" pitchFamily="18" charset="0"/>
              </a:rPr>
              <a:t>HOLLA, NOW IMAGINE YOU’VE JUST BEEN HIRED AS THE LONE DATA OR BUSINESS ANALYST FOR A FAST-GROWING MEDIUM SCALE COMPANY IN NIGERIA. TGE BUSINESS HAS BEEN INVESTING HEAVILY IN MARKETING CAMPAIGNS, CUSTOMER ACQUISITION, AND DIGITAL CHANNELS BUT NO ONE REALLY UNDERSTANDS WHAT’S WORKING AND WHAT’S NOT. YOUR MANAGERHANDS YOU A RAW DATASET AND SAYS: </a:t>
            </a:r>
          </a:p>
          <a:p>
            <a:pPr algn="l"/>
            <a:endParaRPr lang="en-US" sz="1200" b="1"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LOOK HERE MESHACH, WE NEED YOUR HELP IN UNDERSTANDING AND ANALYZING THIS DATA THAT WE HAVE ABOUT OUR CUSTOMERS. SHOW US WHERE THEY ARE COMING FROM, WHAT THEY ARE USING AND HOW OUR CAMPAIGNS ARE PERFORMING.</a:t>
            </a:r>
          </a:p>
          <a:p>
            <a:pPr algn="l"/>
            <a:endParaRPr lang="en-US" sz="1200" b="1" dirty="0">
              <a:latin typeface="Times New Roman" panose="02020603050405020304" pitchFamily="18" charset="0"/>
              <a:cs typeface="Times New Roman" panose="02020603050405020304" pitchFamily="18" charset="0"/>
            </a:endParaRPr>
          </a:p>
          <a:p>
            <a:pPr algn="l"/>
            <a:r>
              <a:rPr lang="en-US" sz="1200" b="1" dirty="0">
                <a:latin typeface="Times New Roman" panose="02020603050405020304" pitchFamily="18" charset="0"/>
                <a:cs typeface="Times New Roman" panose="02020603050405020304" pitchFamily="18" charset="0"/>
              </a:rPr>
              <a:t>AS SUCH, OUR JOB IS TO TURN THIS JUMBLE OF INFORMATION INTO A CLEAR, ACTIONABLE DASHBOARD. THE STORY OR QUESTIONS THAT THIS DASHBOARD </a:t>
            </a:r>
          </a:p>
          <a:p>
            <a:pPr algn="l"/>
            <a:r>
              <a:rPr lang="en-US" sz="1200" b="1" dirty="0">
                <a:latin typeface="Times New Roman" panose="02020603050405020304" pitchFamily="18" charset="0"/>
                <a:cs typeface="Times New Roman" panose="02020603050405020304" pitchFamily="18" charset="0"/>
              </a:rPr>
              <a:t>IS ESTIMATED TO ANSWER INCLUDE:</a:t>
            </a:r>
          </a:p>
          <a:p>
            <a:pPr algn="l"/>
            <a:endParaRPr lang="en-US" sz="1200" b="1" dirty="0">
              <a:latin typeface="Times New Roman" panose="02020603050405020304" pitchFamily="18" charset="0"/>
              <a:cs typeface="Times New Roman" panose="02020603050405020304" pitchFamily="18" charset="0"/>
            </a:endParaRPr>
          </a:p>
          <a:p>
            <a:pPr marL="228600" indent="-228600" algn="l">
              <a:buAutoNum type="arabicPeriod"/>
            </a:pPr>
            <a:r>
              <a:rPr lang="en-US" sz="1200" b="1" dirty="0">
                <a:latin typeface="Times New Roman" panose="02020603050405020304" pitchFamily="18" charset="0"/>
                <a:cs typeface="Times New Roman" panose="02020603050405020304" pitchFamily="18" charset="0"/>
              </a:rPr>
              <a:t>WHAT IS THE TOTALCAMPAIGNCOST, TOTALAVGCAMPAIGNCOST, TOTAL GENERATED AMOUNT AND TOTAL CUSTOMERS.</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TOTAL CUSTOMERS AND TOTAL AVERAGE CAMPAIGN COST BY ACQUISITION CHANNEL</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TOTAL CUSTOMERS BY SIGNUPDATE</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DETAILS BY AGE BRACKET</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DETAILS BY STATE WITH THE ABILITY TO DIG DEEPER</a:t>
            </a:r>
          </a:p>
          <a:p>
            <a:pPr marL="228600" indent="-228600" algn="l">
              <a:buAutoNum type="arabicPeriod"/>
            </a:pPr>
            <a:r>
              <a:rPr lang="en-US" sz="1200" b="1" dirty="0">
                <a:latin typeface="Times New Roman" panose="02020603050405020304" pitchFamily="18" charset="0"/>
                <a:cs typeface="Times New Roman" panose="02020603050405020304" pitchFamily="18" charset="0"/>
              </a:rPr>
              <a:t>IN FINDING DETAILS BY STATE, WE WANT TO KNOW INFORMATION ON: </a:t>
            </a:r>
          </a:p>
          <a:p>
            <a:pPr marL="228600" indent="-228600" algn="l">
              <a:buAutoNum type="alphaUcPeriod"/>
            </a:pPr>
            <a:r>
              <a:rPr lang="en-US" sz="1200" b="1" dirty="0">
                <a:latin typeface="Times New Roman" panose="02020603050405020304" pitchFamily="18" charset="0"/>
                <a:cs typeface="Times New Roman" panose="02020603050405020304" pitchFamily="18" charset="0"/>
              </a:rPr>
              <a:t>BY ACQUISITION CHANNEL</a:t>
            </a:r>
          </a:p>
          <a:p>
            <a:pPr marL="228600" indent="-228600" algn="l">
              <a:buAutoNum type="alphaUcPeriod"/>
            </a:pPr>
            <a:r>
              <a:rPr lang="en-US" sz="1200" b="1" dirty="0">
                <a:latin typeface="Times New Roman" panose="02020603050405020304" pitchFamily="18" charset="0"/>
                <a:cs typeface="Times New Roman" panose="02020603050405020304" pitchFamily="18" charset="0"/>
              </a:rPr>
              <a:t>PRODUCT USED</a:t>
            </a:r>
          </a:p>
          <a:p>
            <a:pPr marL="228600" indent="-228600" algn="l">
              <a:buAutoNum type="alphaUcPeriod"/>
            </a:pPr>
            <a:r>
              <a:rPr lang="en-US" sz="1200" b="1" dirty="0">
                <a:latin typeface="Times New Roman" panose="02020603050405020304" pitchFamily="18" charset="0"/>
                <a:cs typeface="Times New Roman" panose="02020603050405020304" pitchFamily="18" charset="0"/>
              </a:rPr>
              <a:t>HAS ACTIVE LOAN</a:t>
            </a:r>
          </a:p>
          <a:p>
            <a:pPr marL="228600" indent="-228600" algn="l">
              <a:buAutoNum type="alphaUcPeriod"/>
            </a:pPr>
            <a:r>
              <a:rPr lang="en-US" sz="1200" b="1" dirty="0">
                <a:latin typeface="Times New Roman" panose="02020603050405020304" pitchFamily="18" charset="0"/>
                <a:cs typeface="Times New Roman" panose="02020603050405020304" pitchFamily="18" charset="0"/>
              </a:rPr>
              <a:t>IS CHURNED</a:t>
            </a:r>
          </a:p>
          <a:p>
            <a:pPr marL="228600" indent="-228600" algn="l">
              <a:buAutoNum type="alphaUcPeriod"/>
            </a:pPr>
            <a:r>
              <a:rPr lang="en-US" sz="1200" b="1" dirty="0">
                <a:latin typeface="Times New Roman" panose="02020603050405020304" pitchFamily="18" charset="0"/>
                <a:cs typeface="Times New Roman" panose="02020603050405020304" pitchFamily="18" charset="0"/>
              </a:rPr>
              <a:t>BY SOURCE MEDIUM</a:t>
            </a:r>
            <a:endParaRPr lang="en-GH"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086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204</Words>
  <Application>Microsoft Office PowerPoint</Application>
  <PresentationFormat>Widescreen</PresentationFormat>
  <Paragraphs>19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Black</vt:lpstr>
      <vt:lpstr>Calibri</vt:lpstr>
      <vt:lpstr>Calibri Light</vt:lpstr>
      <vt:lpstr>Times New Roman</vt:lpstr>
      <vt:lpstr>Office Theme</vt:lpstr>
      <vt:lpstr>NIGERIAN MEDIUM SCALE MARKETING DATASET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NIGERIAN MEDIUM SCALE MARKETING DATASET</dc:title>
  <dc:creator>Maa Abena</dc:creator>
  <cp:lastModifiedBy>Maa Abena</cp:lastModifiedBy>
  <cp:revision>3</cp:revision>
  <dcterms:created xsi:type="dcterms:W3CDTF">2025-11-22T13:48:31Z</dcterms:created>
  <dcterms:modified xsi:type="dcterms:W3CDTF">2025-11-23T15:39:48Z</dcterms:modified>
</cp:coreProperties>
</file>