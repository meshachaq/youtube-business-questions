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778B-94D9-4FBB-AC87-A38417F3B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A9885EB0-239B-4949-8FC4-9115C5389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04AC76A7-BE68-43FA-91B2-34417E95FCD5}"/>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8E9166F0-5560-4E5F-8D2F-E30F9CEB8FF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988E66D0-B222-4815-8678-E44411EC1D70}"/>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284948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E278-0387-4E15-A0FA-DD03E6B2D318}"/>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0102FB6A-03CC-4547-8DE4-7E9C1A15D4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1A5BEC7C-4F7D-4500-9E7A-21E881FAB0DF}"/>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F3387163-EED6-48C3-9577-D49206A2617D}"/>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F9309BDB-3C91-4B35-B6A7-3920E4BA054D}"/>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130506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252B-1C6C-4633-B2F7-D0651D2D3D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7CC68B92-CFE2-448E-9A27-CA192397AD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3DAC494-3EC1-429A-88D8-CF71021FEBD5}"/>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A998380E-F94D-47C9-BA49-7E44F9E8A3FB}"/>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7E338CB-6CA7-4FA1-8BE0-134DC51CA53F}"/>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1488491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D6A1B-F12E-44AA-8F8F-D21A9A956D41}"/>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53233E79-2526-4982-B875-35754E6DD0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75A22084-4410-4E52-98FA-EC573946F5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03C13D91-39FD-4BA7-9DE5-9BB90E44DE69}"/>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6" name="Footer Placeholder 5">
            <a:extLst>
              <a:ext uri="{FF2B5EF4-FFF2-40B4-BE49-F238E27FC236}">
                <a16:creationId xmlns:a16="http://schemas.microsoft.com/office/drawing/2014/main" id="{7C24183A-4336-49DF-A138-7916AA357486}"/>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512ED2D-7573-4D5D-BA24-C2A351775DCE}"/>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84416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11B9-50ED-4B51-91A7-9B4054ED6994}"/>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BDD4C672-4230-4583-9BF1-1431B8DF6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5CCE5AA-AA1A-41E5-AAE8-CE87D0B3B60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BC4C44E8-2B08-4655-8576-1501C27A71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DCD17A3-EC7F-4039-AF72-158940B2AB6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0AAA8BED-CDA7-4238-BC97-50CE477316A6}"/>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8" name="Footer Placeholder 7">
            <a:extLst>
              <a:ext uri="{FF2B5EF4-FFF2-40B4-BE49-F238E27FC236}">
                <a16:creationId xmlns:a16="http://schemas.microsoft.com/office/drawing/2014/main" id="{935F017F-C3F4-4105-B159-AF3F7FDF4DEA}"/>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071D3233-8B6F-4794-B5E0-350FE3AF2BDE}"/>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586592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F2B3-249C-4683-83B6-C0E8E6D1AAE9}"/>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A623F345-5B7E-41FD-A630-5E491F58E9E5}"/>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4" name="Footer Placeholder 3">
            <a:extLst>
              <a:ext uri="{FF2B5EF4-FFF2-40B4-BE49-F238E27FC236}">
                <a16:creationId xmlns:a16="http://schemas.microsoft.com/office/drawing/2014/main" id="{87AFEDCF-946A-4C86-BE03-442DE670B5FD}"/>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2FFD13A0-19CB-4E56-8AF9-C1A859933A2F}"/>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203864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701C78-14EE-4A57-AA37-9D015A5F8923}"/>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3" name="Footer Placeholder 2">
            <a:extLst>
              <a:ext uri="{FF2B5EF4-FFF2-40B4-BE49-F238E27FC236}">
                <a16:creationId xmlns:a16="http://schemas.microsoft.com/office/drawing/2014/main" id="{B89B8819-F6CE-4EC3-A47A-59F01A881CB3}"/>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A111908F-2938-46B0-A98C-C638262E2D51}"/>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601401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528D-DD27-42A5-9E03-0312A5C220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309C6B5D-60B4-47F9-B827-C052BAE9D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7691C532-2B0D-4E43-A3BF-D9DDDD98E7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38F78EC-80DC-4D7F-AD35-6C7E58975D13}"/>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6" name="Footer Placeholder 5">
            <a:extLst>
              <a:ext uri="{FF2B5EF4-FFF2-40B4-BE49-F238E27FC236}">
                <a16:creationId xmlns:a16="http://schemas.microsoft.com/office/drawing/2014/main" id="{09BF97FE-3DD9-477E-AC48-5D98E254451A}"/>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0253A397-50C6-4753-BA76-2F4FED495DAE}"/>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3310443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1FE76-4185-4E5B-8F2B-AC99C75D74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65AF8186-0309-4581-B61A-EF9ACF561F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0F1B5232-3A09-4722-8C54-0B06ADA58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DF5A597-2FF7-4A63-8103-93936E4687BD}"/>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6" name="Footer Placeholder 5">
            <a:extLst>
              <a:ext uri="{FF2B5EF4-FFF2-40B4-BE49-F238E27FC236}">
                <a16:creationId xmlns:a16="http://schemas.microsoft.com/office/drawing/2014/main" id="{F8480341-A859-4E23-9F53-8B92B638A152}"/>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04A63BD5-C0C5-4959-82E3-9DEBEAEF6398}"/>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33273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2142-51E4-4FF1-8330-B695640AF263}"/>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1805E2E0-7D2A-4F22-AA70-A311C8B3792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5F204D5-8AF5-4A07-AF8A-111C25C02ADA}"/>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9F2F8BB3-C83E-4076-B1A9-B050A6DE22EE}"/>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7DA29555-D85E-444C-A5CA-4D8E9B5639BC}"/>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1080381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B88F6C-1DAC-45FF-B0E3-1C3608170F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6DA60790-A7C9-47EE-AC76-87ECC197CF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D042EC9F-8CEA-45EC-9BE0-E68275EE2C4F}"/>
              </a:ext>
            </a:extLst>
          </p:cNvPr>
          <p:cNvSpPr>
            <a:spLocks noGrp="1"/>
          </p:cNvSpPr>
          <p:nvPr>
            <p:ph type="dt" sz="half" idx="10"/>
          </p:nvPr>
        </p:nvSpPr>
        <p:spPr/>
        <p:txBody>
          <a:body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00A8D6EB-B27C-4BA9-90CE-B2A40537BF91}"/>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F9243476-E7BD-4AD9-BB1C-BC945832221B}"/>
              </a:ext>
            </a:extLst>
          </p:cNvPr>
          <p:cNvSpPr>
            <a:spLocks noGrp="1"/>
          </p:cNvSpPr>
          <p:nvPr>
            <p:ph type="sldNum" sz="quarter" idx="12"/>
          </p:nvPr>
        </p:nvSpPr>
        <p:spPr/>
        <p:txBody>
          <a:bodyPr/>
          <a:lstStyle/>
          <a:p>
            <a:fld id="{C8B7BDDF-2C85-4C9B-B249-58CBDA97B60F}" type="slidenum">
              <a:rPr lang="en-GH" smtClean="0"/>
              <a:t>‹#›</a:t>
            </a:fld>
            <a:endParaRPr lang="en-GH"/>
          </a:p>
        </p:txBody>
      </p:sp>
    </p:spTree>
    <p:extLst>
      <p:ext uri="{BB962C8B-B14F-4D97-AF65-F5344CB8AC3E}">
        <p14:creationId xmlns:p14="http://schemas.microsoft.com/office/powerpoint/2010/main" val="169039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2452B1-30AA-466E-A886-163D16B60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7847A113-2229-4297-B009-8E3859592D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B16F5E80-26D2-4C30-AC97-E98B66E4D0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E9CCBA-8174-4B98-9E8A-68429CF40B14}" type="datetimeFigureOut">
              <a:rPr lang="en-GH" smtClean="0"/>
              <a:t>29/11/2025</a:t>
            </a:fld>
            <a:endParaRPr lang="en-GH"/>
          </a:p>
        </p:txBody>
      </p:sp>
      <p:sp>
        <p:nvSpPr>
          <p:cNvPr id="5" name="Footer Placeholder 4">
            <a:extLst>
              <a:ext uri="{FF2B5EF4-FFF2-40B4-BE49-F238E27FC236}">
                <a16:creationId xmlns:a16="http://schemas.microsoft.com/office/drawing/2014/main" id="{0D4F14AC-D5B2-44AD-A8A2-4AB19E611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789A20C6-D0E4-43E5-A963-1D6A1B7E94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7BDDF-2C85-4C9B-B249-58CBDA97B60F}" type="slidenum">
              <a:rPr lang="en-GH" smtClean="0"/>
              <a:t>‹#›</a:t>
            </a:fld>
            <a:endParaRPr lang="en-GH"/>
          </a:p>
        </p:txBody>
      </p:sp>
    </p:spTree>
    <p:extLst>
      <p:ext uri="{BB962C8B-B14F-4D97-AF65-F5344CB8AC3E}">
        <p14:creationId xmlns:p14="http://schemas.microsoft.com/office/powerpoint/2010/main" val="590310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5BC7-65D8-48AD-A411-0B488FDFB6AE}"/>
              </a:ext>
            </a:extLst>
          </p:cNvPr>
          <p:cNvSpPr>
            <a:spLocks noGrp="1"/>
          </p:cNvSpPr>
          <p:nvPr>
            <p:ph type="ctrTitle"/>
          </p:nvPr>
        </p:nvSpPr>
        <p:spPr>
          <a:xfrm>
            <a:off x="0" y="0"/>
            <a:ext cx="12192000" cy="797859"/>
          </a:xfrm>
        </p:spPr>
        <p:txBody>
          <a:bodyPr>
            <a:normAutofit/>
          </a:bodyPr>
          <a:lstStyle/>
          <a:p>
            <a:r>
              <a:rPr lang="en-US" sz="4800" b="1" u="sng" dirty="0">
                <a:latin typeface="Arial Black" panose="020B0A04020102020204" pitchFamily="34" charset="0"/>
              </a:rPr>
              <a:t>XMAS BUSINESS CASE ANALYSIS</a:t>
            </a:r>
            <a:endParaRPr lang="en-GH" sz="4800" b="1" u="sng" dirty="0">
              <a:latin typeface="Arial Black" panose="020B0A04020102020204" pitchFamily="34" charset="0"/>
            </a:endParaRPr>
          </a:p>
        </p:txBody>
      </p:sp>
      <p:sp>
        <p:nvSpPr>
          <p:cNvPr id="3" name="Subtitle 2">
            <a:extLst>
              <a:ext uri="{FF2B5EF4-FFF2-40B4-BE49-F238E27FC236}">
                <a16:creationId xmlns:a16="http://schemas.microsoft.com/office/drawing/2014/main" id="{06587D31-85E6-44E2-A24A-E04FD2635855}"/>
              </a:ext>
            </a:extLst>
          </p:cNvPr>
          <p:cNvSpPr>
            <a:spLocks noGrp="1"/>
          </p:cNvSpPr>
          <p:nvPr>
            <p:ph type="subTitle" idx="1"/>
          </p:nvPr>
        </p:nvSpPr>
        <p:spPr>
          <a:xfrm>
            <a:off x="0" y="797858"/>
            <a:ext cx="12192000" cy="6060141"/>
          </a:xfrm>
        </p:spPr>
        <p:txBody>
          <a:bodyPr>
            <a:normAutofit/>
          </a:bodyPr>
          <a:lstStyle/>
          <a:p>
            <a:pPr algn="l"/>
            <a:r>
              <a:rPr lang="en-US" sz="1200" b="1" dirty="0">
                <a:latin typeface="Times New Roman" panose="02020603050405020304" pitchFamily="18" charset="0"/>
                <a:cs typeface="Times New Roman" panose="02020603050405020304" pitchFamily="18" charset="0"/>
              </a:rPr>
              <a:t>YOU HAVE BEEN BROUGHT IN AS A DATA OR BUSINESS ANALYST FOR A MID-SIZED INTERNATIONAL RETAILS COMPANY SPECIALIZING IN CHRISTMAS SEASON PRODUCTS ACROSS 10 COUNTRIES. EACH YEAR, THE COMPANY LAUNCHES A MASSIVE SEASONAL CAMPAIGN OFFERING ITEMS SUCH AS DECORATIONS, GIFTS, ELECTRONICS, CLOTHING, TOYS AND VARIOUS HOLIDAY ESSENTIALS. </a:t>
            </a:r>
          </a:p>
          <a:p>
            <a:pPr algn="l"/>
            <a:endParaRPr lang="en-US" sz="1200" b="1"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THE LEADERSHIP TEAM WANTS TO UNDERSTAND SALES PATTERNS, CONSUMER BEHAVIOUR, AND PROFIT DRIVERS DURING THESE YEAR’S CHRISTMAS PERIODS. THEY ALSO WANT INSIGHTS THAT WILL HELP THEM IN REFINING PRICING, INVENTORY PLANNING AND MARKETING STRATEGIES FOR THE FOLLOWING YEARS.</a:t>
            </a:r>
          </a:p>
          <a:p>
            <a:pPr algn="l"/>
            <a:endParaRPr lang="en-US" sz="1200" b="1"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ATTACHED IS THE DATASET FOR THIS ANALYSIS. KINDLY FIND IT IN THE DESCRIPTION BOX BELOW.</a:t>
            </a:r>
          </a:p>
          <a:p>
            <a:pPr algn="l"/>
            <a:endParaRPr lang="en-US" sz="1200" b="1" dirty="0">
              <a:latin typeface="Times New Roman" panose="02020603050405020304" pitchFamily="18" charset="0"/>
              <a:cs typeface="Times New Roman" panose="02020603050405020304" pitchFamily="18" charset="0"/>
            </a:endParaRPr>
          </a:p>
          <a:p>
            <a:r>
              <a:rPr lang="en-US" sz="4000" b="1" u="sng" dirty="0">
                <a:solidFill>
                  <a:srgbClr val="FF0000"/>
                </a:solidFill>
                <a:latin typeface="Times New Roman" panose="02020603050405020304" pitchFamily="18" charset="0"/>
                <a:cs typeface="Times New Roman" panose="02020603050405020304" pitchFamily="18" charset="0"/>
              </a:rPr>
              <a:t>BUSINESS OBJECTIVE</a:t>
            </a:r>
          </a:p>
          <a:p>
            <a:pPr algn="l"/>
            <a:r>
              <a:rPr lang="en-US" sz="1200" b="1" dirty="0">
                <a:latin typeface="Times New Roman" panose="02020603050405020304" pitchFamily="18" charset="0"/>
                <a:cs typeface="Times New Roman" panose="02020603050405020304" pitchFamily="18" charset="0"/>
              </a:rPr>
              <a:t>MANAGEMENT WANTS A COMPREHENSIVE UNDERSTANDING OF CUSTOMER BEHAVIOUR AND SALES PERFORMANCE ACROSS THE COUNTRIES INCLUDING:</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WHAT THE TOTAL SALES, TOTAL COST, TOTAL PROFIT AND TOTAL TAX IS?</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HOW SALES ARE TRENDING DAILY AND HOURLY</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WHICH AGE GROUP BUYS THE MOST AROUND THE SEASON?</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WHICH GENDER SPENDS MORE DURING CHRISTMAS SEASON?</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WHICH COUNTRY LEADS IN BOTH SALES AND PROFIT?</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WHICH PRODUCT CATS GENRATE THE HIGHEST REVENUE?</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WHAT ARE THE TOP BEST-SELLING PRODUCTS?</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WHICH PURCHASE TYPE DRIVES THE HIGHEST CONVERSION?</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ARE HIGH BUDGET CUSTOMERS SPENDING MORE OR LESS?</a:t>
            </a:r>
          </a:p>
        </p:txBody>
      </p:sp>
    </p:spTree>
    <p:extLst>
      <p:ext uri="{BB962C8B-B14F-4D97-AF65-F5344CB8AC3E}">
        <p14:creationId xmlns:p14="http://schemas.microsoft.com/office/powerpoint/2010/main" val="3740554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5BC7-65D8-48AD-A411-0B488FDFB6AE}"/>
              </a:ext>
            </a:extLst>
          </p:cNvPr>
          <p:cNvSpPr>
            <a:spLocks noGrp="1"/>
          </p:cNvSpPr>
          <p:nvPr>
            <p:ph type="ctrTitle"/>
          </p:nvPr>
        </p:nvSpPr>
        <p:spPr>
          <a:xfrm>
            <a:off x="0" y="0"/>
            <a:ext cx="12192000" cy="797859"/>
          </a:xfrm>
        </p:spPr>
        <p:txBody>
          <a:bodyPr>
            <a:normAutofit/>
          </a:bodyPr>
          <a:lstStyle/>
          <a:p>
            <a:r>
              <a:rPr lang="en-US" sz="4800" b="1" u="sng" dirty="0">
                <a:latin typeface="Arial Black" panose="020B0A04020102020204" pitchFamily="34" charset="0"/>
              </a:rPr>
              <a:t>XMAS BUSINESS CASE ANALYSIS</a:t>
            </a:r>
            <a:endParaRPr lang="en-GH" sz="4800" b="1" u="sng" dirty="0">
              <a:latin typeface="Arial Black" panose="020B0A04020102020204" pitchFamily="34" charset="0"/>
            </a:endParaRPr>
          </a:p>
        </p:txBody>
      </p:sp>
      <p:sp>
        <p:nvSpPr>
          <p:cNvPr id="3" name="Subtitle 2">
            <a:extLst>
              <a:ext uri="{FF2B5EF4-FFF2-40B4-BE49-F238E27FC236}">
                <a16:creationId xmlns:a16="http://schemas.microsoft.com/office/drawing/2014/main" id="{06587D31-85E6-44E2-A24A-E04FD2635855}"/>
              </a:ext>
            </a:extLst>
          </p:cNvPr>
          <p:cNvSpPr>
            <a:spLocks noGrp="1"/>
          </p:cNvSpPr>
          <p:nvPr>
            <p:ph type="subTitle" idx="1"/>
          </p:nvPr>
        </p:nvSpPr>
        <p:spPr>
          <a:xfrm>
            <a:off x="0" y="797858"/>
            <a:ext cx="12192000" cy="6060141"/>
          </a:xfrm>
        </p:spPr>
        <p:txBody>
          <a:bodyPr>
            <a:normAutofit/>
          </a:bodyPr>
          <a:lstStyle/>
          <a:p>
            <a:pPr algn="l"/>
            <a:endParaRPr lang="en-US" sz="1200" b="1" dirty="0">
              <a:latin typeface="Times New Roman" panose="02020603050405020304" pitchFamily="18" charset="0"/>
              <a:cs typeface="Times New Roman" panose="02020603050405020304" pitchFamily="18" charset="0"/>
            </a:endParaRPr>
          </a:p>
          <a:p>
            <a:r>
              <a:rPr lang="en-US" sz="4000" b="1" u="sng" dirty="0">
                <a:solidFill>
                  <a:srgbClr val="FF0000"/>
                </a:solidFill>
                <a:latin typeface="Times New Roman" panose="02020603050405020304" pitchFamily="18" charset="0"/>
                <a:cs typeface="Times New Roman" panose="02020603050405020304" pitchFamily="18" charset="0"/>
              </a:rPr>
              <a:t>BUSINESS OBJECTIVE</a:t>
            </a:r>
          </a:p>
          <a:p>
            <a:pPr algn="l"/>
            <a:r>
              <a:rPr lang="en-US" sz="1200" b="1" dirty="0">
                <a:latin typeface="Times New Roman" panose="02020603050405020304" pitchFamily="18" charset="0"/>
                <a:cs typeface="Times New Roman" panose="02020603050405020304" pitchFamily="18" charset="0"/>
              </a:rPr>
              <a:t>10. WHICH DAYS SEE THE MOST CHRISTMAS TRAFFIC?</a:t>
            </a:r>
          </a:p>
          <a:p>
            <a:pPr algn="l"/>
            <a:r>
              <a:rPr lang="en-US" sz="1200" b="1" dirty="0">
                <a:latin typeface="Times New Roman" panose="02020603050405020304" pitchFamily="18" charset="0"/>
                <a:cs typeface="Times New Roman" panose="02020603050405020304" pitchFamily="18" charset="0"/>
              </a:rPr>
              <a:t>11. WHAT ARE THE PEAK SHOPPING HOURS?</a:t>
            </a:r>
          </a:p>
          <a:p>
            <a:pPr algn="l"/>
            <a:r>
              <a:rPr lang="en-US" sz="1200" b="1" dirty="0">
                <a:latin typeface="Times New Roman" panose="02020603050405020304" pitchFamily="18" charset="0"/>
                <a:cs typeface="Times New Roman" panose="02020603050405020304" pitchFamily="18" charset="0"/>
              </a:rPr>
              <a:t>12. WHICH PAYMENT METHODS DO CUSTOMERS PREFER?</a:t>
            </a:r>
          </a:p>
          <a:p>
            <a:pPr algn="l"/>
            <a:r>
              <a:rPr lang="en-US" sz="1200" b="1" dirty="0">
                <a:latin typeface="Times New Roman" panose="02020603050405020304" pitchFamily="18" charset="0"/>
                <a:cs typeface="Times New Roman" panose="02020603050405020304" pitchFamily="18" charset="0"/>
              </a:rPr>
              <a:t>13. WHICH ITEMS SHOULD BE DISCOUNTED, PROMOTED OR DISCONTINUED?</a:t>
            </a:r>
          </a:p>
        </p:txBody>
      </p:sp>
    </p:spTree>
    <p:extLst>
      <p:ext uri="{BB962C8B-B14F-4D97-AF65-F5344CB8AC3E}">
        <p14:creationId xmlns:p14="http://schemas.microsoft.com/office/powerpoint/2010/main" val="3874063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263</Words>
  <Application>Microsoft Office PowerPoint</Application>
  <PresentationFormat>Widescreen</PresentationFormat>
  <Paragraphs>25</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Arial Black</vt:lpstr>
      <vt:lpstr>Calibri</vt:lpstr>
      <vt:lpstr>Calibri Light</vt:lpstr>
      <vt:lpstr>Times New Roman</vt:lpstr>
      <vt:lpstr>Office Theme</vt:lpstr>
      <vt:lpstr>XMAS BUSINESS CASE ANALYSIS</vt:lpstr>
      <vt:lpstr>XMAS BUSINESS CASE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XMAS BUSINESS CASE ANALYSIS</dc:title>
  <dc:creator>Maa Abena</dc:creator>
  <cp:lastModifiedBy>Maa Abena</cp:lastModifiedBy>
  <cp:revision>5</cp:revision>
  <dcterms:created xsi:type="dcterms:W3CDTF">2025-11-29T07:22:30Z</dcterms:created>
  <dcterms:modified xsi:type="dcterms:W3CDTF">2025-11-29T07:55:00Z</dcterms:modified>
</cp:coreProperties>
</file>